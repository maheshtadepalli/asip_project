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76" r:id="rId2"/>
    <p:sldId id="271" r:id="rId3"/>
    <p:sldId id="272" r:id="rId4"/>
    <p:sldId id="273" r:id="rId5"/>
    <p:sldId id="275" r:id="rId6"/>
    <p:sldId id="277" r:id="rId7"/>
    <p:sldId id="278" r:id="rId8"/>
    <p:sldId id="279" r:id="rId9"/>
    <p:sldId id="280" r:id="rId10"/>
    <p:sldId id="281" r:id="rId11"/>
    <p:sldId id="282" r:id="rId12"/>
    <p:sldId id="284" r:id="rId13"/>
    <p:sldId id="285" r:id="rId14"/>
    <p:sldId id="288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6366"/>
  </p:normalViewPr>
  <p:slideViewPr>
    <p:cSldViewPr snapToGrid="0">
      <p:cViewPr varScale="1">
        <p:scale>
          <a:sx n="82" d="100"/>
          <a:sy n="82" d="100"/>
        </p:scale>
        <p:origin x="106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D1BE-2219-C918-76E7-61995CDF5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A6CFE-FAFE-EF91-C4CF-3F494EA09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6286-4E3C-4665-0958-EC683899F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206-90BD-9CFA-3271-9D1AE7DC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3DF9-A178-D337-818C-882619B8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0766-1BF5-2C74-7F13-DB01B6B5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9FA3-7416-EB90-8CB4-BEE7D26CA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0FD75-04D9-F626-0647-8BE4343D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7845-D243-B9DB-91C2-5E2309D3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BE2F-3E22-A5FC-B408-86FE080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9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8448-1E10-8380-1702-DE8BF37C6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640B0-3CC2-C999-87F1-430237932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F709D-5F0F-AB62-B4B9-CFD0F8ED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8ED2-86E3-FC8C-F94B-32B43AA2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20521-BCB6-E36C-6BF8-4287798AC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6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01C2C-EBDA-575A-CAE5-4D77990F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40D15-1ECF-0D52-FD66-AB325DCF1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26776-1E9F-FB53-A4BF-33645200A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B9849-FD12-9C79-BBB8-7169A077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78663-1DF6-CDF7-B15B-4E77A3B7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E8473-AEC1-858D-9433-7155994C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8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9422-A5F3-CEAE-6F4B-0E70209A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C839D-C23E-027A-B36E-ADFB44925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94297-CCBA-F200-8C84-1D206C211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7F26A-90A7-E947-C642-20758D112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1D9F7-2022-854B-D485-8950B371E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4E53F-D413-13CF-979D-7F709457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40EB1-5B87-4DDE-1AC8-1BA9B21F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041A0-B035-B516-E845-ED6C8212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7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E9B8-926E-115D-9AB6-F7B42F27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D0B3B-E3B0-0D19-975E-FB4EA4C3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652F3-E7A4-C647-EF75-4A4AB683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7699A-07B5-614D-0193-830D2694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5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86E54-420F-0042-A650-9ED48379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F587B-645E-0BED-908E-59B24EB8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62D7C-F5CE-8A1C-41CE-32393614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0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158C-0DB7-64CC-3357-4D2A44B9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5A3A-14F7-34AD-13DE-C17DDEABC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A62B8-43B1-1C31-FC6E-D14A917CF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1B900-57C8-3D31-7966-97DAB119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2712A-ABE3-9572-B909-4FF91A0F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98C00-E685-10A7-AF03-A31D2D5D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4EB3-E67F-8AAE-6C31-F3B1B8A5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77596-7317-E39A-6630-0313C8AFC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2C567-3119-F1CF-C83F-2287148C6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93989-53DE-2A11-F2E9-3F1675D1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9DD38-E29B-B62A-9FAA-06D9853F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1F628-13A5-CA26-E5FF-84AA0C0C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7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ED18-0F22-F652-7046-D4E16E51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B00C3-4403-BA8B-00B4-BBA7671DB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09708-5F0B-FCF1-FD90-CA3E6838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0DDC-25CF-F042-313C-667BCCA0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4C5A-AF8E-8355-2021-4F097D9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5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0FB7B-265E-9C65-BBDF-BF05DE308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E1716-D9EA-39A3-4FF5-03CFB80D6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D53F-8E92-7761-08A9-0AD3B813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8A0B3-6F38-6F21-6677-24465A06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55021-DAC4-42BB-0491-01A15D98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5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637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72B76-5A9B-E4D0-C18E-635FCF7A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8A0A8-B7CA-ACBA-2BA6-3DA7E92A8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D65CF-DBC2-A2E8-1853-C697780A1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E4A7F-2905-2347-5AD6-0B05DE927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02E7E-C8E5-5E38-CF95-C1C426D1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9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67BC1-6728-3D93-5F86-1DB39E9EB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4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0EEA-BF46-7D37-D353-EB9D6A6D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E19D5-4D68-D26E-30E9-247A591A5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67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Noise degrades segmentation accuracy, and conventional methods fail to capture spatial structure. This project addresses the need for combining smoothing with segmentation for better region extraction.”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B5E851-4A62-9A9B-302A-9AE80F742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81" y="2967136"/>
            <a:ext cx="7718037" cy="341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8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4760-C0C1-39E8-6379-9E70AD0D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FA0A-26DF-EE95-C449-84A5D2150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Daubechies wavelets (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db4 and db6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image smoothing.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noise while preserving image details and structures.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quadtree-based segmentation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homogeneity criteria.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segmentation performance with 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results using 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segmentation metrics.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0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1180D3-5447-3CC0-C1EB-0BB341A46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8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82C-A5BA-33A6-F230-C1CB2ABA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Wavelet Smoothing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F5F1F-CEEF-A71D-A9C6-091AA3542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is split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Daubechies wavelets (db4 / db6)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separates image into two parts: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(low frequency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(high frequency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part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unchanged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coefficients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down (reduced)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db4 = moderate smoothing, db6 = more smoother result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details removes noise but preserves structure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image becomes smoother and cleaner for segmentation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8B5812-7ECC-1FC4-5DC4-58B137A389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6847" y="659339"/>
            <a:ext cx="5189601" cy="55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1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DD45-7523-F190-146C-B6AA1A70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EC96-499F-2FB1-1775-DBFA30C56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Image is divided into </a:t>
            </a:r>
            <a:r>
              <a:rPr lang="en-US" sz="1800" b="1" dirty="0"/>
              <a:t>square regions based on pixel similarity</a:t>
            </a:r>
          </a:p>
          <a:p>
            <a:r>
              <a:rPr lang="en-US" sz="1800" dirty="0"/>
              <a:t>Start with the </a:t>
            </a:r>
            <a:r>
              <a:rPr lang="en-US" sz="1800" b="1" dirty="0"/>
              <a:t>entire image and check homogeneity</a:t>
            </a:r>
          </a:p>
          <a:p>
            <a:r>
              <a:rPr lang="en-US" sz="1800" dirty="0"/>
              <a:t>Non-uniform regions are </a:t>
            </a:r>
            <a:r>
              <a:rPr lang="en-US" sz="1800" b="1" dirty="0"/>
              <a:t>recursively split into 4 parts</a:t>
            </a:r>
            <a:endParaRPr lang="en-IN" sz="1800" b="1" dirty="0"/>
          </a:p>
          <a:p>
            <a:r>
              <a:rPr lang="en-IN" sz="1800" dirty="0"/>
              <a:t>Process continues until regions become </a:t>
            </a:r>
            <a:r>
              <a:rPr lang="en-IN" sz="1800" b="1" dirty="0"/>
              <a:t>uniform or reach minimum size</a:t>
            </a:r>
          </a:p>
          <a:p>
            <a:r>
              <a:rPr lang="en-US" sz="1800" dirty="0"/>
              <a:t>Final blocks represent </a:t>
            </a:r>
            <a:r>
              <a:rPr lang="en-US" sz="1800" b="1" dirty="0"/>
              <a:t>segmented regions of the image</a:t>
            </a:r>
          </a:p>
          <a:p>
            <a:r>
              <a:rPr lang="en-US" sz="1800" dirty="0"/>
              <a:t>Large blocks indicate </a:t>
            </a:r>
            <a:r>
              <a:rPr lang="en-US" sz="1800" b="1" dirty="0"/>
              <a:t>smooth areas</a:t>
            </a:r>
            <a:r>
              <a:rPr lang="en-US" sz="1800" dirty="0"/>
              <a:t>, small blocks indicate </a:t>
            </a:r>
            <a:r>
              <a:rPr lang="en-US" sz="1800" b="1" dirty="0"/>
              <a:t>detailed regions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4212EF-7BDB-674F-E60F-3053C94492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70027" y="1690688"/>
            <a:ext cx="41624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3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60B6-56DC-CCBC-1779-A8CB5273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560" y="666749"/>
            <a:ext cx="6578600" cy="11588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 Segmented </a:t>
            </a:r>
            <a:b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Construction: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176C-FD0D-BAFD-2065-744F9B755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80760" cy="1603375"/>
          </a:xfrm>
        </p:spPr>
        <p:txBody>
          <a:bodyPr>
            <a:normAutofit/>
          </a:bodyPr>
          <a:lstStyle/>
          <a:p>
            <a:r>
              <a:rPr lang="en-US" sz="2000" dirty="0"/>
              <a:t>Use the </a:t>
            </a:r>
            <a:r>
              <a:rPr lang="en-US" sz="2000" b="1" dirty="0"/>
              <a:t>final leaf blocks (homogeneous regions)</a:t>
            </a:r>
            <a:r>
              <a:rPr lang="en-US" sz="2000" dirty="0"/>
              <a:t> </a:t>
            </a:r>
          </a:p>
          <a:p>
            <a:r>
              <a:rPr lang="en-US" sz="2000" dirty="0"/>
              <a:t>Compute </a:t>
            </a:r>
            <a:r>
              <a:rPr lang="en-US" sz="2000" b="1" dirty="0"/>
              <a:t>mean intensity for each block</a:t>
            </a:r>
            <a:r>
              <a:rPr lang="en-US" sz="2000" dirty="0"/>
              <a:t> </a:t>
            </a:r>
          </a:p>
          <a:p>
            <a:r>
              <a:rPr lang="en-US" sz="2000" dirty="0"/>
              <a:t>Assign this value to </a:t>
            </a:r>
            <a:r>
              <a:rPr lang="en-US" sz="2000" b="1" dirty="0"/>
              <a:t>all pixels within the block</a:t>
            </a:r>
            <a:r>
              <a:rPr lang="en-US" sz="2000" dirty="0"/>
              <a:t> </a:t>
            </a:r>
          </a:p>
          <a:p>
            <a:r>
              <a:rPr lang="en-US" sz="2000" dirty="0"/>
              <a:t>This directly forms the </a:t>
            </a:r>
            <a:r>
              <a:rPr lang="en-US" sz="2000" b="1" dirty="0"/>
              <a:t>segmented image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76739-2BFC-A4EC-2D0B-E5EA64FC4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560" y="3429001"/>
            <a:ext cx="10429240" cy="27479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</a:p>
          <a:p>
            <a:pPr marL="0" indent="0">
              <a:buNone/>
            </a:pPr>
            <a:endParaRPr lang="en-IN" sz="16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094D089-AE5D-9293-230D-76E50D971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020240"/>
                  </p:ext>
                </p:extLst>
              </p:nvPr>
            </p:nvGraphicFramePr>
            <p:xfrm>
              <a:off x="1016000" y="3995736"/>
              <a:ext cx="10429239" cy="2613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76413">
                      <a:extLst>
                        <a:ext uri="{9D8B030D-6E8A-4147-A177-3AD203B41FA5}">
                          <a16:colId xmlns:a16="http://schemas.microsoft.com/office/drawing/2014/main" val="2999600630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1932115426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2223024076"/>
                        </a:ext>
                      </a:extLst>
                    </a:gridCol>
                  </a:tblGrid>
                  <a:tr h="377724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472433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Homogeneity Threshold (T)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Decides whether a block should be split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9492"/>
                      </a:ext>
                    </a:extLst>
                  </a:tr>
                  <a:tr h="931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Standard Deviation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Measures variation inside a block (homogeneity check)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 i="0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 i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ar-A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4278984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Intensity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μ)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Represents each region (final pixel value)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μ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l-G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∑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34267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094D089-AE5D-9293-230D-76E50D971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020240"/>
                  </p:ext>
                </p:extLst>
              </p:nvPr>
            </p:nvGraphicFramePr>
            <p:xfrm>
              <a:off x="1016000" y="3995736"/>
              <a:ext cx="10429239" cy="2613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76413">
                      <a:extLst>
                        <a:ext uri="{9D8B030D-6E8A-4147-A177-3AD203B41FA5}">
                          <a16:colId xmlns:a16="http://schemas.microsoft.com/office/drawing/2014/main" val="2999600630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1932115426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2223024076"/>
                        </a:ext>
                      </a:extLst>
                    </a:gridCol>
                  </a:tblGrid>
                  <a:tr h="377724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472433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Homogeneity Threshold (T)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Decides whether a block should be split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9492"/>
                      </a:ext>
                    </a:extLst>
                  </a:tr>
                  <a:tr h="931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Standard Deviation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Measures variation inside a block (homogeneity check)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12987" r="-701" b="-7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4278984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Intensity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μ)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Represents each region (final pixel value)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6542" r="-701" b="-130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34267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481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BB71-CDB4-03A3-195A-AD098B9E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EA6D-B842-391D-418D-29BD4929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pixels based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similarity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clusters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predefined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assigned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cluster center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segmented image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regions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9C980A-D3C1-3BB9-80ED-A7A07C6C3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666" y="340518"/>
            <a:ext cx="4052238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2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FC7C-625F-9CED-F601-0C85DCB1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760"/>
            <a:ext cx="10515600" cy="81692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Parameters(k-means):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6BAF69A-EADC-AE1D-28C2-810DFE319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764054"/>
              </p:ext>
            </p:extLst>
          </p:nvPr>
        </p:nvGraphicFramePr>
        <p:xfrm>
          <a:off x="838200" y="1825625"/>
          <a:ext cx="10515597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772399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403148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82080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40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Clusters (K)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regions to segment the image into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46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Centers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l-G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ₖ)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Representative intensity of each 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μk = (1 / Nk) * Σ xi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32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Metric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pixel to nearest cluster 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= √[(x − </a:t>
                      </a:r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k)²]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16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Function (Loss)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Minimizes intra-cluster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= Σ (x − μk)²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4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5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7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0BFB-7D7A-014D-3D06-39F9ADB6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37F97B-2EC1-8634-953F-FA732AFFD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675817"/>
              </p:ext>
            </p:extLst>
          </p:nvPr>
        </p:nvGraphicFramePr>
        <p:xfrm>
          <a:off x="838200" y="1825624"/>
          <a:ext cx="10515597" cy="3142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4579159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887545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89358920"/>
                    </a:ext>
                  </a:extLst>
                </a:gridCol>
              </a:tblGrid>
              <a:tr h="48707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386465"/>
                  </a:ext>
                </a:extLst>
              </a:tr>
              <a:tr h="84070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(Mean Squared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between original and segmented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= (1/N) * Σ (I − Î)²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635402"/>
                  </a:ext>
                </a:extLst>
              </a:tr>
              <a:tr h="840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Intra-region Variance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Variation within each segment (homogeneity)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σ² = (1/N) * Σ (x − μ)²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07021"/>
                  </a:ext>
                </a:extLst>
              </a:tr>
              <a:tr h="487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Regions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segments formed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976037"/>
                  </a:ext>
                </a:extLst>
              </a:tr>
              <a:tr h="487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Map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difference between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004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9D6FD-CAF2-3ED0-23B5-E5C07ED120D7}"/>
              </a:ext>
            </a:extLst>
          </p:cNvPr>
          <p:cNvSpPr txBox="1"/>
          <p:nvPr/>
        </p:nvSpPr>
        <p:spPr>
          <a:xfrm>
            <a:off x="838200" y="5435600"/>
            <a:ext cx="729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“Lower MSE → better reconstruction”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“Lower variance → more uniform regions”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1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0E12-C357-5C65-4715-43E6C04A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-2267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- </a:t>
            </a:r>
            <a:r>
              <a:rPr lang="en-IN" sz="40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40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46168-E293-4772-6E1B-D5707E85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268"/>
            <a:ext cx="12192000" cy="598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9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0">
            <a:extLst>
              <a:ext uri="{FF2B5EF4-FFF2-40B4-BE49-F238E27FC236}">
                <a16:creationId xmlns:a16="http://schemas.microsoft.com/office/drawing/2014/main" id="{97E2FA20-529D-B308-8502-4CEE94EB9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695" y="1163320"/>
            <a:ext cx="36004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0">
            <a:extLst>
              <a:ext uri="{FF2B5EF4-FFF2-40B4-BE49-F238E27FC236}">
                <a16:creationId xmlns:a16="http://schemas.microsoft.com/office/drawing/2014/main" id="{1D41FB04-E5D1-E4B6-E022-E3D524220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" y="1163320"/>
            <a:ext cx="36004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0">
            <a:extLst>
              <a:ext uri="{FF2B5EF4-FFF2-40B4-BE49-F238E27FC236}">
                <a16:creationId xmlns:a16="http://schemas.microsoft.com/office/drawing/2014/main" id="{5091ACB5-B9A5-A46E-D96B-519D038EE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1163320"/>
            <a:ext cx="36004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278676-6661-4752-4499-3028703581E2}"/>
              </a:ext>
            </a:extLst>
          </p:cNvPr>
          <p:cNvSpPr txBox="1"/>
          <p:nvPr/>
        </p:nvSpPr>
        <p:spPr>
          <a:xfrm>
            <a:off x="3964305" y="332740"/>
            <a:ext cx="4336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1CB04-0D21-45FE-C09C-9EBACF3F97C7}"/>
              </a:ext>
            </a:extLst>
          </p:cNvPr>
          <p:cNvSpPr txBox="1"/>
          <p:nvPr/>
        </p:nvSpPr>
        <p:spPr>
          <a:xfrm>
            <a:off x="1066800" y="6195814"/>
            <a:ext cx="234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Original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30406-22A8-26B1-AD49-405063DE28A8}"/>
              </a:ext>
            </a:extLst>
          </p:cNvPr>
          <p:cNvSpPr txBox="1"/>
          <p:nvPr/>
        </p:nvSpPr>
        <p:spPr>
          <a:xfrm>
            <a:off x="4633912" y="619581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Wavelet Smoothed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CAA10-1154-8C4D-43FB-68AAEAAC6507}"/>
              </a:ext>
            </a:extLst>
          </p:cNvPr>
          <p:cNvSpPr txBox="1"/>
          <p:nvPr/>
        </p:nvSpPr>
        <p:spPr>
          <a:xfrm>
            <a:off x="8707120" y="6195814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Quadtree segmentation</a:t>
            </a:r>
          </a:p>
        </p:txBody>
      </p:sp>
    </p:spTree>
    <p:extLst>
      <p:ext uri="{BB962C8B-B14F-4D97-AF65-F5344CB8AC3E}">
        <p14:creationId xmlns:p14="http://schemas.microsoft.com/office/powerpoint/2010/main" val="404415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0">
            <a:extLst>
              <a:ext uri="{FF2B5EF4-FFF2-40B4-BE49-F238E27FC236}">
                <a16:creationId xmlns:a16="http://schemas.microsoft.com/office/drawing/2014/main" id="{ED6EC42E-30A3-F0F1-2F16-670616D76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87" y="715931"/>
            <a:ext cx="3860800" cy="522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0">
            <a:extLst>
              <a:ext uri="{FF2B5EF4-FFF2-40B4-BE49-F238E27FC236}">
                <a16:creationId xmlns:a16="http://schemas.microsoft.com/office/drawing/2014/main" id="{42F13279-7522-04D0-2468-84709B0E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013" y="715930"/>
            <a:ext cx="3860800" cy="522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C71186-3541-8807-793B-41B24ED2261E}"/>
              </a:ext>
            </a:extLst>
          </p:cNvPr>
          <p:cNvSpPr txBox="1"/>
          <p:nvPr/>
        </p:nvSpPr>
        <p:spPr>
          <a:xfrm>
            <a:off x="1967867" y="6125914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Quadtree Segmented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9380C-A250-DA51-36F2-5118BC196EB9}"/>
              </a:ext>
            </a:extLst>
          </p:cNvPr>
          <p:cNvSpPr txBox="1"/>
          <p:nvPr/>
        </p:nvSpPr>
        <p:spPr>
          <a:xfrm>
            <a:off x="7140573" y="6125914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K-means Segmented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78D6D-6098-33A9-EE73-3005648D6011}"/>
              </a:ext>
            </a:extLst>
          </p:cNvPr>
          <p:cNvSpPr txBox="1"/>
          <p:nvPr/>
        </p:nvSpPr>
        <p:spPr>
          <a:xfrm>
            <a:off x="-570867" y="20320"/>
            <a:ext cx="1153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b/w Quadtree &amp; K-means Segmented Images:</a:t>
            </a:r>
          </a:p>
        </p:txBody>
      </p:sp>
    </p:spTree>
    <p:extLst>
      <p:ext uri="{BB962C8B-B14F-4D97-AF65-F5344CB8AC3E}">
        <p14:creationId xmlns:p14="http://schemas.microsoft.com/office/powerpoint/2010/main" val="404602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DD64-44B5-29F7-FC4C-89D8EE3F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4" y="71056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Metrics: Quadtree vs K-means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2BF07B-557F-93E6-4857-CC80A052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4" y="2402541"/>
            <a:ext cx="11035451" cy="20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82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4A9D-6B3A-4759-E534-AD341056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5316E-D461-F778-F65E-2D5B9D8D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smoothing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noise while preserving key structures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adapts to image content → large blocks (smooth), small blocks (detailed)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 segmentation captures spatial structure effectively but often leads to over-segmentation, especially in high-detail areas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coarse, uniform regions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fixed clusters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consider spatial information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distant but similar pixels may be grouped together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 boundaries follow image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K-means boundaries are less aligned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map highlights variations in complex regions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89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E190-08AB-AA82-43DA-62BA27F8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316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788</TotalTime>
  <Words>619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Problem Statement</vt:lpstr>
      <vt:lpstr>Objectives</vt:lpstr>
      <vt:lpstr>PowerPoint Presentation</vt:lpstr>
      <vt:lpstr>Wavelet Smoothing</vt:lpstr>
      <vt:lpstr>Quadtree Segmentation</vt:lpstr>
      <vt:lpstr>Quadtree Segmented  Image Construction:</vt:lpstr>
      <vt:lpstr>K-Means Segmentation</vt:lpstr>
      <vt:lpstr>Parameters(k-means):</vt:lpstr>
      <vt:lpstr>Metrics</vt:lpstr>
      <vt:lpstr>UI - Streamlit</vt:lpstr>
      <vt:lpstr>PowerPoint Presentation</vt:lpstr>
      <vt:lpstr>PowerPoint Presentation</vt:lpstr>
      <vt:lpstr>Metrics: Quadtree vs K-means</vt:lpstr>
      <vt:lpstr>Observations: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Bisu</dc:creator>
  <cp:lastModifiedBy>MAHESH TADEPALLI</cp:lastModifiedBy>
  <cp:revision>10</cp:revision>
  <dcterms:created xsi:type="dcterms:W3CDTF">2026-04-16T09:13:08Z</dcterms:created>
  <dcterms:modified xsi:type="dcterms:W3CDTF">2026-04-29T11:47:40Z</dcterms:modified>
</cp:coreProperties>
</file>